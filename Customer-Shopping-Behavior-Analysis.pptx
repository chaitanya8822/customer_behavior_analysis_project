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pen Sans" panose="020F0502020204030204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442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strategic insights from transactional data to guide business decisions and optimize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30322"/>
            <a:ext cx="60989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Overview &amp; Goals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79263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8224" y="48136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5000744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5720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Scope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6211372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Analyzed 3,900 purchases across various product categories.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579263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51396" y="48136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562" y="5000744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51396" y="5720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Core Objective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51396" y="621137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 insights into spending patterns, customer segments, and product preferences.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40133" y="4579263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874568" y="48136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1734" y="5000744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74568" y="5720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Strategic Guide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874568" y="621137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 key business decisions, including marketing and loyalty programs.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7258"/>
            <a:ext cx="76177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Summary: Key Features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9666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03966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296960"/>
            <a:ext cx="29803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Demographics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78737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Location, and Subscription Status.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039666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03966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296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78737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Item, Category, Amount, Season, Size, and Color.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039666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03966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296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Shopping Behavior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78737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Discount/Promo Use, Previous Purchases, Frequency, Review Rating, and Shipping Type.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388531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E1D4D0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740241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567201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dataset contains 3,900 rows and 18 columns. 37 values were missing in the Review Rating column.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756166"/>
            <a:ext cx="8116967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Exploratory Data Analysis (Python)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864162"/>
            <a:ext cx="13117116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data preparation and cleaning were crucial for accurate analysis.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80849" y="2993588"/>
            <a:ext cx="6126123" cy="216098"/>
          </a:xfrm>
          <a:prstGeom prst="roundRect">
            <a:avLst>
              <a:gd name="adj" fmla="val 42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6642" y="2777311"/>
            <a:ext cx="648533" cy="648533"/>
          </a:xfrm>
          <a:prstGeom prst="roundRect">
            <a:avLst>
              <a:gd name="adj" fmla="val 7049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805" y="2939475"/>
            <a:ext cx="324207" cy="3242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2741" y="3642003"/>
            <a:ext cx="320051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Loading &amp; Exploration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72741" y="4109442"/>
            <a:ext cx="6018252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and checked structure/summary statistics.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47397" y="2669381"/>
            <a:ext cx="6126242" cy="216098"/>
          </a:xfrm>
          <a:prstGeom prst="roundRect">
            <a:avLst>
              <a:gd name="adj" fmla="val 42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23190" y="2453104"/>
            <a:ext cx="648533" cy="648533"/>
          </a:xfrm>
          <a:prstGeom prst="roundRect">
            <a:avLst>
              <a:gd name="adj" fmla="val 7049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5353" y="2615267"/>
            <a:ext cx="324207" cy="3242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9288" y="3317796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Missing Data Handling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639288" y="3785235"/>
            <a:ext cx="6018371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37 missing Review Rating values using the median rating per product category.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1080849" y="5773817"/>
            <a:ext cx="6126123" cy="216098"/>
          </a:xfrm>
          <a:prstGeom prst="roundRect">
            <a:avLst>
              <a:gd name="adj" fmla="val 42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6642" y="5557540"/>
            <a:ext cx="648533" cy="648533"/>
          </a:xfrm>
          <a:prstGeom prst="roundRect">
            <a:avLst>
              <a:gd name="adj" fmla="val 7049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8805" y="5719703"/>
            <a:ext cx="324207" cy="3242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2741" y="6422231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Engineering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972741" y="6889671"/>
            <a:ext cx="6018252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</a:t>
            </a:r>
            <a:r>
              <a:rPr lang="en-US" sz="170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70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columns.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747397" y="5449610"/>
            <a:ext cx="6126242" cy="216098"/>
          </a:xfrm>
          <a:prstGeom prst="roundRect">
            <a:avLst>
              <a:gd name="adj" fmla="val 42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23190" y="5233333"/>
            <a:ext cx="648533" cy="648533"/>
          </a:xfrm>
          <a:prstGeom prst="roundRect">
            <a:avLst>
              <a:gd name="adj" fmla="val 7049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85353" y="5395496"/>
            <a:ext cx="324207" cy="3242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9288" y="6098024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Database Integration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7639288" y="6565463"/>
            <a:ext cx="6018371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the cleaned DataFrame into PostgreSQL for structured SQL analysis.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8266"/>
            <a:ext cx="68237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Financial Insights (SQL)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4402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by Gender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961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significantly higher total revenue.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277082"/>
            <a:ext cx="6244709" cy="1966198"/>
          </a:xfrm>
          <a:prstGeom prst="roundRect">
            <a:avLst>
              <a:gd name="adj" fmla="val 48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428470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8343" y="44284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46828" y="44284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93502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50787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146828" y="50787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$157,890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5585341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5729049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146828" y="5729049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$75,191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2644021"/>
            <a:ext cx="463307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Subscribers vs. Non-Subscribers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7599521" y="32961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 account for the majority of total revenue, though average spend is similar.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599521" y="4277082"/>
            <a:ext cx="6244709" cy="2329101"/>
          </a:xfrm>
          <a:prstGeom prst="roundRect">
            <a:avLst>
              <a:gd name="adj" fmla="val 409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7141" y="4284702"/>
            <a:ext cx="6229469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834074" y="4428411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395222" y="4428411"/>
            <a:ext cx="10960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0952559" y="4428411"/>
            <a:ext cx="10960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Spend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2509897" y="4428411"/>
            <a:ext cx="10998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607141" y="529792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834074" y="5441633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395222" y="5441633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2,847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0952559" y="5441633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$59.87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2509897" y="5441633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$170,436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607141" y="594824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34074" y="6091952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9395222" y="6091952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1,053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0952559" y="6091952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$59.49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2509897" y="6091952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$62,645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819" y="361236"/>
            <a:ext cx="5226129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 Performance and Preferences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9819" y="1100138"/>
            <a:ext cx="206871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5 Products by Rating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459819" y="1494115"/>
            <a:ext cx="295632" cy="295632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9052" y="1518702"/>
            <a:ext cx="19704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86778" y="1539240"/>
            <a:ext cx="164234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Gloves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778" y="1875711"/>
            <a:ext cx="626816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3.86 Average Rating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9819" y="2348746"/>
            <a:ext cx="295632" cy="295632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52" y="2373332"/>
            <a:ext cx="19704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86778" y="2393871"/>
            <a:ext cx="164234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Sandals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778" y="2730341"/>
            <a:ext cx="626816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3.84 Average Rating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819" y="3203377"/>
            <a:ext cx="295632" cy="295632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052" y="3227963"/>
            <a:ext cx="19704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86778" y="3248501"/>
            <a:ext cx="164234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Boots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778" y="3584972"/>
            <a:ext cx="626816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3.82 Average Rating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9819" y="4058007"/>
            <a:ext cx="295632" cy="295632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052" y="4082594"/>
            <a:ext cx="19704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86778" y="4103132"/>
            <a:ext cx="164234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Hat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6778" y="4439603"/>
            <a:ext cx="626816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3.80 Average Rating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9819" y="4912638"/>
            <a:ext cx="295632" cy="295632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052" y="4937224"/>
            <a:ext cx="197048" cy="246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86778" y="4957763"/>
            <a:ext cx="164234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Skirt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6778" y="5294233"/>
            <a:ext cx="626816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3.78 Average Rating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83078" y="1100138"/>
            <a:ext cx="2342912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3 Products per Category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483078" y="1477685"/>
            <a:ext cx="669512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most purchased items within each major category: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83078" y="1806178"/>
            <a:ext cx="669512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Accessories:</a:t>
            </a: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Jewelry, Sunglasses, Belt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83078" y="2062401"/>
            <a:ext cx="669512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Clothing:</a:t>
            </a: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Blouse, Pants, Shirt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83078" y="2318623"/>
            <a:ext cx="669512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Footwear:</a:t>
            </a: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Sandals, Shoes, Sneakers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83078" y="2574846"/>
            <a:ext cx="669512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Outerwear:</a:t>
            </a: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Jacket, Coat</a:t>
            </a:r>
            <a:endParaRPr lang="en-US" sz="10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078" y="2932868"/>
            <a:ext cx="7024659" cy="5218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52" y="892850"/>
            <a:ext cx="7255312" cy="642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Discount and Shipping Dynamics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9852" y="2152531"/>
            <a:ext cx="3749278" cy="2824758"/>
          </a:xfrm>
          <a:prstGeom prst="roundRect">
            <a:avLst>
              <a:gd name="adj" fmla="val 3885"/>
            </a:avLst>
          </a:prstGeom>
          <a:solidFill>
            <a:srgbClr val="FFFCFA"/>
          </a:solidFill>
          <a:ln/>
        </p:spPr>
      </p:sp>
      <p:sp>
        <p:nvSpPr>
          <p:cNvPr id="5" name="Shape 2"/>
          <p:cNvSpPr/>
          <p:nvPr/>
        </p:nvSpPr>
        <p:spPr>
          <a:xfrm>
            <a:off x="719852" y="2129671"/>
            <a:ext cx="3749278" cy="91440"/>
          </a:xfrm>
          <a:prstGeom prst="roundRect">
            <a:avLst>
              <a:gd name="adj" fmla="val 94476"/>
            </a:avLst>
          </a:prstGeom>
          <a:solidFill>
            <a:srgbClr val="835E54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0" y="1844040"/>
            <a:ext cx="616982" cy="616982"/>
          </a:xfrm>
          <a:prstGeom prst="roundRect">
            <a:avLst>
              <a:gd name="adj" fmla="val 148205"/>
            </a:avLst>
          </a:prstGeom>
          <a:solidFill>
            <a:srgbClr val="835E5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1023" y="2029063"/>
            <a:ext cx="246817" cy="2468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333" y="2666643"/>
            <a:ext cx="3292316" cy="642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Discount-Dependent Products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48333" y="3432453"/>
            <a:ext cx="3292316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 (50.00%) and Sneakers (49.66%) had the highest percentage of discounted purchases.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674751" y="2152531"/>
            <a:ext cx="3749397" cy="2824758"/>
          </a:xfrm>
          <a:prstGeom prst="roundRect">
            <a:avLst>
              <a:gd name="adj" fmla="val 3885"/>
            </a:avLst>
          </a:prstGeom>
          <a:solidFill>
            <a:srgbClr val="FFFCFA"/>
          </a:solidFill>
          <a:ln/>
        </p:spPr>
      </p:sp>
      <p:sp>
        <p:nvSpPr>
          <p:cNvPr id="11" name="Shape 7"/>
          <p:cNvSpPr/>
          <p:nvPr/>
        </p:nvSpPr>
        <p:spPr>
          <a:xfrm>
            <a:off x="4674751" y="2129671"/>
            <a:ext cx="3749397" cy="91440"/>
          </a:xfrm>
          <a:prstGeom prst="roundRect">
            <a:avLst>
              <a:gd name="adj" fmla="val 94476"/>
            </a:avLst>
          </a:prstGeom>
          <a:solidFill>
            <a:srgbClr val="835E54"/>
          </a:solidFill>
          <a:ln/>
        </p:spPr>
      </p:sp>
      <p:sp>
        <p:nvSpPr>
          <p:cNvPr id="12" name="Shape 8"/>
          <p:cNvSpPr/>
          <p:nvPr/>
        </p:nvSpPr>
        <p:spPr>
          <a:xfrm>
            <a:off x="6240899" y="1844040"/>
            <a:ext cx="616982" cy="616982"/>
          </a:xfrm>
          <a:prstGeom prst="roundRect">
            <a:avLst>
              <a:gd name="adj" fmla="val 148205"/>
            </a:avLst>
          </a:prstGeom>
          <a:solidFill>
            <a:srgbClr val="835E5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5922" y="2029063"/>
            <a:ext cx="246817" cy="2468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03232" y="2666643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Shipping Type Spend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903232" y="3111222"/>
            <a:ext cx="3292435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users had a slightly higher average purchase amount ($60.48) than Standard ($58.46).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19852" y="5491401"/>
            <a:ext cx="7704296" cy="1845350"/>
          </a:xfrm>
          <a:prstGeom prst="roundRect">
            <a:avLst>
              <a:gd name="adj" fmla="val 5946"/>
            </a:avLst>
          </a:prstGeom>
          <a:solidFill>
            <a:srgbClr val="FFFCFA"/>
          </a:solidFill>
          <a:ln/>
        </p:spPr>
      </p:sp>
      <p:sp>
        <p:nvSpPr>
          <p:cNvPr id="17" name="Shape 12"/>
          <p:cNvSpPr/>
          <p:nvPr/>
        </p:nvSpPr>
        <p:spPr>
          <a:xfrm>
            <a:off x="719852" y="5468541"/>
            <a:ext cx="7704296" cy="91440"/>
          </a:xfrm>
          <a:prstGeom prst="roundRect">
            <a:avLst>
              <a:gd name="adj" fmla="val 94476"/>
            </a:avLst>
          </a:prstGeom>
          <a:solidFill>
            <a:srgbClr val="835E54"/>
          </a:solidFill>
          <a:ln/>
        </p:spPr>
      </p:sp>
      <p:sp>
        <p:nvSpPr>
          <p:cNvPr id="18" name="Shape 13"/>
          <p:cNvSpPr/>
          <p:nvPr/>
        </p:nvSpPr>
        <p:spPr>
          <a:xfrm>
            <a:off x="4263509" y="5182910"/>
            <a:ext cx="616982" cy="616982"/>
          </a:xfrm>
          <a:prstGeom prst="roundRect">
            <a:avLst>
              <a:gd name="adj" fmla="val 148205"/>
            </a:avLst>
          </a:prstGeom>
          <a:solidFill>
            <a:srgbClr val="835E5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48532" y="5367933"/>
            <a:ext cx="246817" cy="24681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8333" y="6005513"/>
            <a:ext cx="3344347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High-Spending Discount Users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948333" y="6450092"/>
            <a:ext cx="7247334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 used a discount but still spent above the average purchase amount.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785"/>
            <a:ext cx="82643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Segmentation &amp; Loyalty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23" y="2062877"/>
            <a:ext cx="6019443" cy="5152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5218" y="3607557"/>
            <a:ext cx="2321354" cy="290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Loyal (3,116)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47101" y="3432166"/>
            <a:ext cx="2022158" cy="290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Returning (701)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546340" y="5846374"/>
            <a:ext cx="1753912" cy="290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New (83)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99521" y="20345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Loyalty Segments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599521" y="26866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were classified based on purchase history: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32536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Loyal: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3,116 Customers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36958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Returning: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701 Customers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41380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83 Customers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599521" y="4869451"/>
            <a:ext cx="6244709" cy="35957"/>
          </a:xfrm>
          <a:prstGeom prst="rect">
            <a:avLst/>
          </a:prstGeom>
          <a:solidFill>
            <a:srgbClr val="443728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599521" y="5160526"/>
            <a:ext cx="442245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Repeat Buyers &amp; Subscriptions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599521" y="581263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with &gt;5 purchases are more likely to subscribe (958 subscribers vs. 2,518 non-subscribers).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4108" y="872014"/>
            <a:ext cx="7682508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Contribution by Age Group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4108" y="1807131"/>
            <a:ext cx="7728585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is relatively balanced across age groups, with Young Adults leading slightly.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94108" y="2681764"/>
            <a:ext cx="7728585" cy="4675823"/>
          </a:xfrm>
          <a:prstGeom prst="roundRect">
            <a:avLst>
              <a:gd name="adj" fmla="val 181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01728" y="2689384"/>
            <a:ext cx="7713345" cy="1165146"/>
          </a:xfrm>
          <a:prstGeom prst="roundRect">
            <a:avLst>
              <a:gd name="adj" fmla="val 7290"/>
            </a:avLst>
          </a:prstGeom>
          <a:solidFill>
            <a:srgbClr val="EBE2E0"/>
          </a:solidFill>
          <a:ln/>
        </p:spPr>
      </p:sp>
      <p:sp>
        <p:nvSpPr>
          <p:cNvPr id="7" name="Text 4"/>
          <p:cNvSpPr/>
          <p:nvPr/>
        </p:nvSpPr>
        <p:spPr>
          <a:xfrm>
            <a:off x="6403896" y="2891552"/>
            <a:ext cx="2527816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Young Adult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403896" y="3328749"/>
            <a:ext cx="73090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$62,143 Total Revenue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01728" y="3854529"/>
            <a:ext cx="7713345" cy="1165146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10" name="Shape 7"/>
          <p:cNvSpPr/>
          <p:nvPr/>
        </p:nvSpPr>
        <p:spPr>
          <a:xfrm>
            <a:off x="6201728" y="3854529"/>
            <a:ext cx="7713345" cy="22860"/>
          </a:xfrm>
          <a:prstGeom prst="roundRect">
            <a:avLst>
              <a:gd name="adj" fmla="val 371553"/>
            </a:avLst>
          </a:prstGeom>
          <a:solidFill>
            <a:srgbClr val="D1C8C6"/>
          </a:solidFill>
          <a:ln/>
        </p:spPr>
      </p:sp>
      <p:sp>
        <p:nvSpPr>
          <p:cNvPr id="11" name="Text 8"/>
          <p:cNvSpPr/>
          <p:nvPr/>
        </p:nvSpPr>
        <p:spPr>
          <a:xfrm>
            <a:off x="6403896" y="4056698"/>
            <a:ext cx="2527816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Middle-aged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03896" y="4493895"/>
            <a:ext cx="73090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$59,197 Total Revenue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01728" y="5019675"/>
            <a:ext cx="7713345" cy="1165146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14" name="Shape 11"/>
          <p:cNvSpPr/>
          <p:nvPr/>
        </p:nvSpPr>
        <p:spPr>
          <a:xfrm>
            <a:off x="6201728" y="5019675"/>
            <a:ext cx="7713345" cy="22860"/>
          </a:xfrm>
          <a:prstGeom prst="roundRect">
            <a:avLst>
              <a:gd name="adj" fmla="val 371553"/>
            </a:avLst>
          </a:prstGeom>
          <a:solidFill>
            <a:srgbClr val="D1C8C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3896" y="5221843"/>
            <a:ext cx="2527816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Adult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403896" y="5659041"/>
            <a:ext cx="73090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$55,978 Total Revenue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201728" y="6184821"/>
            <a:ext cx="7713345" cy="1165146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18" name="Shape 15"/>
          <p:cNvSpPr/>
          <p:nvPr/>
        </p:nvSpPr>
        <p:spPr>
          <a:xfrm>
            <a:off x="6201728" y="6184821"/>
            <a:ext cx="7713345" cy="22860"/>
          </a:xfrm>
          <a:prstGeom prst="roundRect">
            <a:avLst>
              <a:gd name="adj" fmla="val 371553"/>
            </a:avLst>
          </a:prstGeom>
          <a:solidFill>
            <a:srgbClr val="D1C8C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3896" y="6386989"/>
            <a:ext cx="2527816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Senior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6403896" y="6824186"/>
            <a:ext cx="73090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$55,763 Total Revenue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4822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Strategic Business Recommendations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96835" y="892969"/>
            <a:ext cx="453628" cy="680442"/>
          </a:xfrm>
          <a:prstGeom prst="roundRect">
            <a:avLst>
              <a:gd name="adj" fmla="val 360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639" y="1148120"/>
            <a:ext cx="170021" cy="170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811" y="100631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Boost Subscriptions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63811" y="1251466"/>
            <a:ext cx="1326975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increase subscriber base.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6835" y="1686758"/>
            <a:ext cx="453628" cy="680442"/>
          </a:xfrm>
          <a:prstGeom prst="roundRect">
            <a:avLst>
              <a:gd name="adj" fmla="val 360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639" y="1941909"/>
            <a:ext cx="170021" cy="170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3811" y="18001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Loyalty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63811" y="2045256"/>
            <a:ext cx="1326975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drive them into the "Loyal" segment.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96835" y="2480548"/>
            <a:ext cx="453628" cy="680442"/>
          </a:xfrm>
          <a:prstGeom prst="roundRect">
            <a:avLst>
              <a:gd name="adj" fmla="val 360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639" y="2735699"/>
            <a:ext cx="170021" cy="170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811" y="259389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Targeted Marketing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963811" y="2839045"/>
            <a:ext cx="1326975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efforts on high-revenue age groups and Express shipping users.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96835" y="3274338"/>
            <a:ext cx="453628" cy="680442"/>
          </a:xfrm>
          <a:prstGeom prst="roundRect">
            <a:avLst>
              <a:gd name="adj" fmla="val 360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8639" y="3529489"/>
            <a:ext cx="170021" cy="1700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3811" y="338768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 Positioning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963811" y="3632835"/>
            <a:ext cx="1326975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and best-selling products in marketing campaigns.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396835" y="4068128"/>
            <a:ext cx="453628" cy="680442"/>
          </a:xfrm>
          <a:prstGeom prst="roundRect">
            <a:avLst>
              <a:gd name="adj" fmla="val 36002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8639" y="4323278"/>
            <a:ext cx="170021" cy="1700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3811" y="418147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Review Discount Policy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963811" y="4426625"/>
            <a:ext cx="1326975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from discounts with margin control.</a:t>
            </a:r>
            <a:endParaRPr lang="en-US" sz="8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5453" y="88939"/>
            <a:ext cx="9741459" cy="6501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576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Crimson Pro Bold</vt:lpstr>
      <vt:lpstr>Open Sans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kotari chaitanyakrishna</cp:lastModifiedBy>
  <cp:revision>2</cp:revision>
  <dcterms:created xsi:type="dcterms:W3CDTF">2025-10-25T03:30:58Z</dcterms:created>
  <dcterms:modified xsi:type="dcterms:W3CDTF">2025-10-25T03:36:38Z</dcterms:modified>
</cp:coreProperties>
</file>